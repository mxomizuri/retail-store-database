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26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94" r:id="rId21"/>
    <p:sldId id="288" r:id="rId22"/>
    <p:sldId id="289" r:id="rId23"/>
    <p:sldId id="290" r:id="rId24"/>
    <p:sldId id="291" r:id="rId25"/>
    <p:sldId id="292" r:id="rId26"/>
    <p:sldId id="295" r:id="rId27"/>
    <p:sldId id="296" r:id="rId28"/>
    <p:sldId id="297" r:id="rId29"/>
    <p:sldId id="298" r:id="rId30"/>
    <p:sldId id="299" r:id="rId31"/>
    <p:sldId id="300" r:id="rId32"/>
    <p:sldId id="30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704020202020204" pitchFamily="34" charset="0"/>
              <a:cs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5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3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4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Arial" panose="020B0704020202020204" pitchFamily="34" charset="0"/>
          <a:sym typeface="Arial" panose="020B07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Arial" panose="020B0704020202020204" pitchFamily="34" charset="0"/>
          <a:ea typeface="Arial" panose="020B0704020202020204" pitchFamily="34" charset="0"/>
          <a:cs typeface="Arial" panose="020B0704020202020204" pitchFamily="34" charset="0"/>
          <a:sym typeface="Arial" panose="020B07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5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8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9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0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3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4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5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6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8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9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0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1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0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03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04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05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106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10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8.xml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16405" y="2041525"/>
            <a:ext cx="9467850" cy="1640840"/>
          </a:xfrm>
        </p:spPr>
        <p:txBody>
          <a:bodyPr/>
          <a:lstStyle/>
          <a:p>
            <a:r>
              <a:rPr lang="en-US">
                <a:ea typeface="+mj-ea"/>
              </a:rPr>
              <a:t>  Retail Store Database</a:t>
            </a:r>
            <a:endParaRPr lang="en-US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 sz="1555">
                <a:ea typeface="+mn-ea"/>
              </a:rPr>
              <a:t>Presented by: Mariam Khomizuri</a:t>
            </a:r>
            <a:endParaRPr lang="en-US" altLang="en-US" sz="1555">
              <a:ea typeface="+mn-ea"/>
            </a:endParaRPr>
          </a:p>
          <a:p>
            <a:r>
              <a:rPr lang="en-US" altLang="en-US" sz="1555">
                <a:ea typeface="+mn-ea"/>
              </a:rPr>
              <a:t>Professor: Paul Dantzing</a:t>
            </a:r>
            <a:endParaRPr lang="en-US" altLang="en-US" sz="1555">
              <a:ea typeface="+mn-ea"/>
            </a:endParaRPr>
          </a:p>
          <a:p>
            <a:r>
              <a:rPr lang="en-US" altLang="en-US" sz="1555">
                <a:ea typeface="+mn-ea"/>
              </a:rPr>
              <a:t>Date: May 02, 2026</a:t>
            </a:r>
            <a:endParaRPr lang="en-US" altLang="en-US" sz="1555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373380" y="1313180"/>
            <a:ext cx="10753725" cy="5770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This database represents real business data from my mother’s retail store in Georgia.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Includes 10 tables: Country, Store, Employee, Customer, Product, Size, Product Size, Sales Transaction, Sales Detail, Payment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Built using real store data, ensuring realistic analysis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Contains a total of 625 rows across all tables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Table Distribution: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Country (3), Store (2), Employee (4), Customer (10),</a:t>
            </a:r>
            <a:endParaRPr lang="en-US" altLang="en-US"/>
          </a:p>
          <a:p>
            <a:r>
              <a:rPr lang="en-US" altLang="en-US"/>
              <a:t>Product (107), Size (26), Product Size (233),</a:t>
            </a:r>
            <a:endParaRPr lang="en-US" altLang="en-US"/>
          </a:p>
          <a:p>
            <a:r>
              <a:rPr lang="en-US" altLang="en-US"/>
              <a:t>Sales Transaction (80), Sales Detail (80), Payment (80)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34390" y="262890"/>
            <a:ext cx="8110855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UML Entity Relationship Diagram</a:t>
            </a:r>
            <a:endParaRPr lang="en-US" altLang="en-US" sz="3200"/>
          </a:p>
        </p:txBody>
      </p:sp>
      <p:pic>
        <p:nvPicPr>
          <p:cNvPr id="8" name="Picture 7" descr="Screenshot 2026-04-24 2222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27430"/>
            <a:ext cx="11805285" cy="52927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Countr</a:t>
            </a:r>
            <a:r>
              <a:rPr lang="en-US" altLang="en-US" sz="3200">
                <a:sym typeface="+mn-ea"/>
              </a:rPr>
              <a:t>y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Country (</a:t>
            </a:r>
            <a:endParaRPr lang="en-US" altLang="en-US"/>
          </a:p>
          <a:p>
            <a:r>
              <a:rPr lang="en-US" altLang="en-US"/>
              <a:t>    country_id INT PRIMARY KEY,</a:t>
            </a:r>
            <a:endParaRPr lang="en-US" altLang="en-US"/>
          </a:p>
          <a:p>
            <a:r>
              <a:rPr lang="en-US" altLang="en-US"/>
              <a:t>    country_name VARCHAR(50) NOT NULL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Count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650" y="3790950"/>
            <a:ext cx="7820025" cy="24771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Store 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Store (</a:t>
            </a:r>
            <a:endParaRPr lang="en-US" altLang="en-US"/>
          </a:p>
          <a:p>
            <a:r>
              <a:rPr lang="en-US" altLang="en-US"/>
              <a:t>    store_id INT PRIMARY KEY,</a:t>
            </a:r>
            <a:endParaRPr lang="en-US" altLang="en-US"/>
          </a:p>
          <a:p>
            <a:r>
              <a:rPr lang="en-US" altLang="en-US"/>
              <a:t>    store_location VARCHAR(100) NOT NULL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st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9255" y="3817620"/>
            <a:ext cx="9048750" cy="27063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Product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4838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Product (</a:t>
            </a:r>
            <a:endParaRPr lang="en-US" altLang="en-US"/>
          </a:p>
          <a:p>
            <a:r>
              <a:rPr lang="en-US" altLang="en-US"/>
              <a:t>    product_id INT PRIMARY KEY,</a:t>
            </a:r>
            <a:endParaRPr lang="en-US" altLang="en-US"/>
          </a:p>
          <a:p>
            <a:r>
              <a:rPr lang="en-US" altLang="en-US"/>
              <a:t>    country_id INT,</a:t>
            </a:r>
            <a:endParaRPr lang="en-US" altLang="en-US"/>
          </a:p>
          <a:p>
            <a:r>
              <a:rPr lang="en-US" altLang="en-US"/>
              <a:t>    store_id INT NOT NULL,</a:t>
            </a:r>
            <a:endParaRPr lang="en-US" altLang="en-US"/>
          </a:p>
          <a:p>
            <a:r>
              <a:rPr lang="en-US" altLang="en-US"/>
              <a:t>    product_name VARCHAR(100) NOT NULL,</a:t>
            </a:r>
            <a:endParaRPr lang="en-US" altLang="en-US"/>
          </a:p>
          <a:p>
            <a:r>
              <a:rPr lang="en-US" altLang="en-US"/>
              <a:t>    category VARCHAR(50),</a:t>
            </a:r>
            <a:endParaRPr lang="en-US" altLang="en-US"/>
          </a:p>
          <a:p>
            <a:r>
              <a:rPr lang="en-US" altLang="en-US"/>
              <a:t>    brand VARCHAR(50),</a:t>
            </a:r>
            <a:endParaRPr lang="en-US" altLang="en-US"/>
          </a:p>
          <a:p>
            <a:r>
              <a:rPr lang="en-US" altLang="en-US"/>
              <a:t>    color VARCHAR(30),</a:t>
            </a:r>
            <a:endParaRPr lang="en-US" altLang="en-US"/>
          </a:p>
          <a:p>
            <a:r>
              <a:rPr lang="en-US" altLang="en-US"/>
              <a:t>    price DECIMAL(10,2) NOT NULL,</a:t>
            </a:r>
            <a:endParaRPr lang="en-US" altLang="en-US"/>
          </a:p>
          <a:p>
            <a:r>
              <a:rPr lang="en-US" altLang="en-US"/>
              <a:t>    FOREIGN KEY (country_id) REFERENCES Country(country_id)</a:t>
            </a:r>
            <a:endParaRPr lang="en-US" altLang="en-US"/>
          </a:p>
          <a:p>
            <a:r>
              <a:rPr lang="en-US" altLang="en-US"/>
              <a:t>FOREIGN KEY (store_id) REFERENCES Store(store_id)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 descr="Produ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1620" y="2893060"/>
            <a:ext cx="6587490" cy="36595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Employee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3147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Employee (</a:t>
            </a:r>
            <a:endParaRPr lang="en-US" altLang="en-US"/>
          </a:p>
          <a:p>
            <a:r>
              <a:rPr lang="en-US" altLang="en-US"/>
              <a:t>    employee_id INT PRIMARY KEY,</a:t>
            </a:r>
            <a:endParaRPr lang="en-US" altLang="en-US"/>
          </a:p>
          <a:p>
            <a:r>
              <a:rPr lang="en-US" altLang="en-US"/>
              <a:t>    store_id INT,</a:t>
            </a:r>
            <a:endParaRPr lang="en-US" altLang="en-US"/>
          </a:p>
          <a:p>
            <a:r>
              <a:rPr lang="en-US" altLang="en-US"/>
              <a:t>    employee_name VARCHAR(100),</a:t>
            </a:r>
            <a:endParaRPr lang="en-US" altLang="en-US"/>
          </a:p>
          <a:p>
            <a:r>
              <a:rPr lang="en-US" altLang="en-US"/>
              <a:t>    position VARCHAR(50),</a:t>
            </a:r>
            <a:endParaRPr lang="en-US" altLang="en-US"/>
          </a:p>
          <a:p>
            <a:r>
              <a:rPr lang="en-US" altLang="en-US"/>
              <a:t>    FOREIGN KEY (store_id) REFERENCES Store(store_id)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Emploe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790" y="3964940"/>
            <a:ext cx="6835140" cy="2611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Customer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2530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Customer (</a:t>
            </a:r>
            <a:endParaRPr lang="en-US" altLang="en-US"/>
          </a:p>
          <a:p>
            <a:r>
              <a:rPr lang="en-US" altLang="en-US"/>
              <a:t>    customer_id INT PRIMARY KEY,</a:t>
            </a:r>
            <a:endParaRPr lang="en-US" altLang="en-US"/>
          </a:p>
          <a:p>
            <a:r>
              <a:rPr lang="en-US" altLang="en-US"/>
              <a:t>    customer_name VARCHAR(100) NOT NULL,</a:t>
            </a:r>
            <a:endParaRPr lang="en-US" altLang="en-US"/>
          </a:p>
          <a:p>
            <a:r>
              <a:rPr lang="en-US" altLang="en-US"/>
              <a:t>    phone VARCHAR(20),</a:t>
            </a:r>
            <a:endParaRPr lang="en-US" altLang="en-US"/>
          </a:p>
          <a:p>
            <a:r>
              <a:rPr lang="en-US" altLang="en-US"/>
              <a:t> );</a:t>
            </a:r>
            <a:endParaRPr lang="en-US" altLang="en-US"/>
          </a:p>
        </p:txBody>
      </p:sp>
      <p:pic>
        <p:nvPicPr>
          <p:cNvPr id="4" name="Picture 3" descr="Custom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245" y="3884295"/>
            <a:ext cx="6975475" cy="23660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Size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Size (</a:t>
            </a:r>
            <a:endParaRPr lang="en-US" altLang="en-US"/>
          </a:p>
          <a:p>
            <a:r>
              <a:rPr lang="en-US" altLang="en-US"/>
              <a:t>    size_id INT PRIMARY KEY,</a:t>
            </a:r>
            <a:endParaRPr lang="en-US" altLang="en-US"/>
          </a:p>
          <a:p>
            <a:r>
              <a:rPr lang="en-US" altLang="en-US"/>
              <a:t>    size_name VARCHAR(10) NOT NULL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Siz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530" y="4192270"/>
            <a:ext cx="7575550" cy="2308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Product Size 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3467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Product_Size (</a:t>
            </a:r>
            <a:endParaRPr lang="en-US" altLang="en-US"/>
          </a:p>
          <a:p>
            <a:r>
              <a:rPr lang="en-US" altLang="en-US"/>
              <a:t>    product_size_id INT PRIMARY KEY,</a:t>
            </a:r>
            <a:endParaRPr lang="en-US" altLang="en-US"/>
          </a:p>
          <a:p>
            <a:r>
              <a:rPr lang="en-US" altLang="en-US"/>
              <a:t>    product_id INT,</a:t>
            </a:r>
            <a:endParaRPr lang="en-US" altLang="en-US"/>
          </a:p>
          <a:p>
            <a:r>
              <a:rPr lang="en-US" altLang="en-US"/>
              <a:t>    size_id INT,</a:t>
            </a:r>
            <a:endParaRPr lang="en-US" altLang="en-US"/>
          </a:p>
          <a:p>
            <a:r>
              <a:rPr lang="en-US" altLang="en-US"/>
              <a:t>    stock_quantity INT NOT NULL,</a:t>
            </a:r>
            <a:endParaRPr lang="en-US" altLang="en-US"/>
          </a:p>
          <a:p>
            <a:r>
              <a:rPr lang="en-US" altLang="en-US"/>
              <a:t>    FOREIGN KEY (product_id) REFERENCES Product(product_id),</a:t>
            </a:r>
            <a:endParaRPr lang="en-US" altLang="en-US"/>
          </a:p>
          <a:p>
            <a:r>
              <a:rPr lang="en-US" altLang="en-US"/>
              <a:t>    FOREIGN KEY (size_id) REFERENCES Size(size_id)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Productsiz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9735" y="3964305"/>
            <a:ext cx="6036310" cy="23253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8303895" cy="671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Sales Transaction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5155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Sales_Transaction (</a:t>
            </a:r>
            <a:endParaRPr lang="en-US" altLang="en-US"/>
          </a:p>
          <a:p>
            <a:r>
              <a:rPr lang="en-US" altLang="en-US"/>
              <a:t>    transaction_id INT PRIMARY KEY,</a:t>
            </a:r>
            <a:endParaRPr lang="en-US" altLang="en-US"/>
          </a:p>
          <a:p>
            <a:r>
              <a:rPr lang="en-US" altLang="en-US"/>
              <a:t>    customer_id INT,</a:t>
            </a:r>
            <a:endParaRPr lang="en-US" altLang="en-US"/>
          </a:p>
          <a:p>
            <a:r>
              <a:rPr lang="en-US" altLang="en-US"/>
              <a:t>    employee_id INT,</a:t>
            </a:r>
            <a:endParaRPr lang="en-US" altLang="en-US"/>
          </a:p>
          <a:p>
            <a:r>
              <a:rPr lang="en-US" altLang="en-US"/>
              <a:t>    store_id INT,</a:t>
            </a:r>
            <a:endParaRPr lang="en-US" altLang="en-US"/>
          </a:p>
          <a:p>
            <a:r>
              <a:rPr lang="en-US" altLang="en-US"/>
              <a:t>    transaction_date DATE NOT NULL,</a:t>
            </a:r>
            <a:endParaRPr lang="en-US" altLang="en-US"/>
          </a:p>
          <a:p>
            <a:r>
              <a:rPr lang="en-US" altLang="en-US"/>
              <a:t>    FOREIGN KEY (customer_id) REFERENCES Customer(customer_id),</a:t>
            </a:r>
            <a:endParaRPr lang="en-US" altLang="en-US"/>
          </a:p>
          <a:p>
            <a:r>
              <a:rPr lang="en-US" altLang="en-US"/>
              <a:t>    FOREIGN KEY (employee_id) REFERENCES Employee(employee_id),</a:t>
            </a:r>
            <a:endParaRPr lang="en-US" altLang="en-US"/>
          </a:p>
          <a:p>
            <a:r>
              <a:rPr lang="en-US" altLang="en-US"/>
              <a:t>    FOREIGN KEY (store_id) REFERENCES Store(store_id)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salestranstacion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2565" y="3916045"/>
            <a:ext cx="6560820" cy="25787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Sales Detail 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4298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Sales_Detail (</a:t>
            </a:r>
            <a:endParaRPr lang="en-US" altLang="en-US"/>
          </a:p>
          <a:p>
            <a:r>
              <a:rPr lang="en-US" altLang="en-US"/>
              <a:t>    sales_detail_id INT PRIMARY KEY,</a:t>
            </a:r>
            <a:endParaRPr lang="en-US" altLang="en-US"/>
          </a:p>
          <a:p>
            <a:r>
              <a:rPr lang="en-US" altLang="en-US"/>
              <a:t>    transaction_id INT,</a:t>
            </a:r>
            <a:endParaRPr lang="en-US" altLang="en-US"/>
          </a:p>
          <a:p>
            <a:r>
              <a:rPr lang="en-US" altLang="en-US"/>
              <a:t>    product_size_id INT,</a:t>
            </a:r>
            <a:endParaRPr lang="en-US" altLang="en-US"/>
          </a:p>
          <a:p>
            <a:r>
              <a:rPr lang="en-US" altLang="en-US"/>
              <a:t>    quantity INT NOT NULL,</a:t>
            </a:r>
            <a:endParaRPr lang="en-US" altLang="en-US"/>
          </a:p>
          <a:p>
            <a:r>
              <a:rPr lang="en-US" altLang="en-US"/>
              <a:t>    unit_price DECIMAL(10,2) NOT NULL,</a:t>
            </a:r>
            <a:endParaRPr lang="en-US" altLang="en-US"/>
          </a:p>
          <a:p>
            <a:r>
              <a:rPr lang="en-US" altLang="en-US"/>
              <a:t>    FOREIGN KEY (transaction_id) REFERENCES Sales_Transaction(transaction_id),</a:t>
            </a:r>
            <a:endParaRPr lang="en-US" altLang="en-US"/>
          </a:p>
          <a:p>
            <a:r>
              <a:rPr lang="en-US" altLang="en-US"/>
              <a:t>    FOREIGN KEY (product_size_id) REFERENCES Product_Size(product_size_id)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SalesDetai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912235"/>
            <a:ext cx="5549900" cy="23964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Create Table Payment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3736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CREATE TABLE Payment (</a:t>
            </a:r>
            <a:endParaRPr lang="en-US" altLang="en-US"/>
          </a:p>
          <a:p>
            <a:r>
              <a:rPr lang="en-US" altLang="en-US"/>
              <a:t>    payment_id INT PRIMARY KEY,</a:t>
            </a:r>
            <a:endParaRPr lang="en-US" altLang="en-US"/>
          </a:p>
          <a:p>
            <a:r>
              <a:rPr lang="en-US" altLang="en-US"/>
              <a:t>    transaction_id INT,</a:t>
            </a:r>
            <a:endParaRPr lang="en-US" altLang="en-US"/>
          </a:p>
          <a:p>
            <a:r>
              <a:rPr lang="en-US" altLang="en-US"/>
              <a:t>    payment_method VARCHAR(20) NOT NULL,</a:t>
            </a:r>
            <a:endParaRPr lang="en-US" altLang="en-US"/>
          </a:p>
          <a:p>
            <a:r>
              <a:rPr lang="en-US" altLang="en-US"/>
              <a:t>    amount_paid DECIMAL(10,2) NOT NULL,</a:t>
            </a:r>
            <a:endParaRPr lang="en-US" altLang="en-US"/>
          </a:p>
          <a:p>
            <a:r>
              <a:rPr lang="en-US" altLang="en-US"/>
              <a:t>    payment_date DATE,</a:t>
            </a:r>
            <a:endParaRPr lang="en-US" altLang="en-US"/>
          </a:p>
          <a:p>
            <a:r>
              <a:rPr lang="en-US" altLang="en-US"/>
              <a:t>    payment_status VARCHAR(20),</a:t>
            </a:r>
            <a:endParaRPr lang="en-US" altLang="en-US"/>
          </a:p>
          <a:p>
            <a:r>
              <a:rPr lang="en-US" altLang="en-US"/>
              <a:t>    FOREIGN KEY (transaction_id) REFERENCES Sales_Transaction(transaction_id)</a:t>
            </a:r>
            <a:endParaRPr lang="en-US" altLang="en-US"/>
          </a:p>
          <a:p>
            <a:r>
              <a:rPr lang="en-US" altLang="en-US"/>
              <a:t>);</a:t>
            </a:r>
            <a:endParaRPr lang="en-US" altLang="en-US"/>
          </a:p>
        </p:txBody>
      </p:sp>
      <p:pic>
        <p:nvPicPr>
          <p:cNvPr id="4" name="Picture 3" descr="Pay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875" y="3506470"/>
            <a:ext cx="5892800" cy="27832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589216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Data Preparation and Import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7018020" cy="494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CSV File Import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Data was prepared in CSV files (one file per table)</a:t>
            </a:r>
            <a:endParaRPr lang="en-US" altLang="en-US"/>
          </a:p>
          <a:p>
            <a:r>
              <a:rPr lang="en-US" altLang="en-US"/>
              <a:t>Imported into the database using Import/Export data function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Manual Data Insertion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Additional data was inserted using SQL INSERT statements</a:t>
            </a:r>
            <a:endParaRPr lang="en-US" altLang="en-US"/>
          </a:p>
          <a:p>
            <a:r>
              <a:rPr lang="en-US" altLang="en-US"/>
              <a:t>Used to add missing or specific records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Example: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Product Table and Country Table</a:t>
            </a:r>
            <a:endParaRPr lang="en-US" altLang="en-US"/>
          </a:p>
          <a:p>
            <a:endParaRPr lang="en-US" altLang="en-US" sz="1000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5" name="Picture 4" descr="Screenshot 2026-04-24 175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0" y="3428365"/>
            <a:ext cx="3737610" cy="28994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 flipH="1">
            <a:off x="8281035" y="2073275"/>
            <a:ext cx="3628390" cy="1120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000">
                <a:sym typeface="+mn-ea"/>
              </a:rPr>
              <a:t>INSERT INTO Country (country_id, country_name)</a:t>
            </a:r>
            <a:endParaRPr lang="en-US" altLang="en-US" sz="1000"/>
          </a:p>
          <a:p>
            <a:r>
              <a:rPr lang="en-US" altLang="en-US" sz="1000">
                <a:sym typeface="+mn-ea"/>
              </a:rPr>
              <a:t>VALUES</a:t>
            </a:r>
            <a:endParaRPr lang="en-US" altLang="en-US" sz="1000"/>
          </a:p>
          <a:p>
            <a:r>
              <a:rPr lang="en-US" altLang="en-US" sz="1000">
                <a:sym typeface="+mn-ea"/>
              </a:rPr>
              <a:t>(1, 'Turkey'),</a:t>
            </a:r>
            <a:endParaRPr lang="en-US" altLang="en-US" sz="1000"/>
          </a:p>
          <a:p>
            <a:r>
              <a:rPr lang="en-US" altLang="en-US" sz="1000">
                <a:sym typeface="+mn-ea"/>
              </a:rPr>
              <a:t>(2, 'Italy'),</a:t>
            </a:r>
            <a:endParaRPr lang="en-US" altLang="en-US" sz="1000"/>
          </a:p>
          <a:p>
            <a:r>
              <a:rPr lang="en-US" altLang="en-US" sz="1000">
                <a:sym typeface="+mn-ea"/>
              </a:rPr>
              <a:t>(3, 'Georgia');</a:t>
            </a:r>
            <a:endParaRPr lang="en-US" altLang="en-US" sz="1000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 Countr</a:t>
            </a:r>
            <a:r>
              <a:rPr lang="en-US" altLang="en-US" sz="3200">
                <a:sym typeface="+mn-ea"/>
              </a:rPr>
              <a:t>y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5" name="Picture 4" descr="Country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9270" y="1527810"/>
            <a:ext cx="7003415" cy="49739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  Store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sto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495" y="1381760"/>
            <a:ext cx="6887845" cy="48533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 </a:t>
            </a:r>
            <a:r>
              <a:rPr lang="en-US" altLang="en-US" sz="3200">
                <a:sym typeface="+mn-ea"/>
              </a:rPr>
              <a:t>Product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Produ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20" y="1268095"/>
            <a:ext cx="7990205" cy="54209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 </a:t>
            </a:r>
            <a:r>
              <a:rPr lang="en-US" altLang="en-US" sz="3200">
                <a:sym typeface="+mn-ea"/>
              </a:rPr>
              <a:t>Employee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Employe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595" y="1430655"/>
            <a:ext cx="7047865" cy="50272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 Customer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Custom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760" y="1200150"/>
            <a:ext cx="7732395" cy="54844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   </a:t>
            </a:r>
            <a:r>
              <a:rPr lang="en-US" altLang="en-US" sz="3200">
                <a:sym typeface="+mn-ea"/>
              </a:rPr>
              <a:t>Size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siz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1200150"/>
            <a:ext cx="7543165" cy="53816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</a:t>
            </a:r>
            <a:r>
              <a:rPr lang="en-US" altLang="en-US" sz="3200">
                <a:sym typeface="+mn-ea"/>
              </a:rPr>
              <a:t>Product Size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products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135" y="1200150"/>
            <a:ext cx="7120890" cy="50660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</a:t>
            </a:r>
            <a:r>
              <a:rPr lang="en-US" altLang="en-US" sz="3200">
                <a:sym typeface="+mn-ea"/>
              </a:rPr>
              <a:t>Sales Transaction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sales transa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9405" y="1370330"/>
            <a:ext cx="7261860" cy="51625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</a:t>
            </a:r>
            <a:r>
              <a:rPr lang="en-US" altLang="en-US" sz="3200">
                <a:sym typeface="+mn-ea"/>
              </a:rPr>
              <a:t>Sales Detail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6" name="Picture 5" descr="salesdetai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760" y="1200150"/>
            <a:ext cx="7733030" cy="54692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</a:t>
            </a:r>
            <a:r>
              <a:rPr lang="en-US" altLang="en-US" sz="3200">
                <a:sym typeface="+mn-ea"/>
              </a:rPr>
              <a:t>Payment</a:t>
            </a:r>
            <a:r>
              <a:rPr lang="en-US" altLang="en-US" sz="3200">
                <a:sym typeface="+mn-ea"/>
              </a:rPr>
              <a:t> Table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2830" y="1527810"/>
            <a:ext cx="3828415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  <p:pic>
        <p:nvPicPr>
          <p:cNvPr id="4" name="Picture 3" descr="Pay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775" y="1418590"/>
            <a:ext cx="6833235" cy="4853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Filtering (WHERE)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129010" cy="522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Products with price greater than 50 (limit 10)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SELECT product_name, price</a:t>
            </a:r>
            <a:endParaRPr lang="en-US" altLang="en-US"/>
          </a:p>
          <a:p>
            <a:r>
              <a:rPr lang="en-US" altLang="en-US"/>
              <a:t>FROM retail_store.product</a:t>
            </a:r>
            <a:endParaRPr lang="en-US" altLang="en-US"/>
          </a:p>
          <a:p>
            <a:r>
              <a:rPr lang="en-US" altLang="en-US"/>
              <a:t>WHERE price &gt; 50 limit 10;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All bags which is in store 2</a:t>
            </a:r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/>
              <a:t>SELECT *</a:t>
            </a:r>
            <a:endParaRPr lang="en-US" altLang="en-US"/>
          </a:p>
          <a:p>
            <a:r>
              <a:rPr lang="en-US" altLang="en-US"/>
              <a:t>FROM retail_store.product</a:t>
            </a:r>
            <a:endParaRPr lang="en-US" altLang="en-US"/>
          </a:p>
          <a:p>
            <a:r>
              <a:rPr lang="en-US" altLang="en-US"/>
              <a:t>WHERE category = 'Bag' AND store_id = 2;</a:t>
            </a:r>
            <a:endParaRPr lang="en-US" altLang="en-US"/>
          </a:p>
          <a:p>
            <a:endParaRPr lang="en-US" altLang="en-US" sz="2000" b="1"/>
          </a:p>
          <a:p>
            <a:r>
              <a:rPr lang="en-US" altLang="en-US" sz="2000" b="1"/>
              <a:t>Employees working in store 1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/>
              <a:t>SELECT *</a:t>
            </a:r>
            <a:endParaRPr lang="en-US" altLang="en-US"/>
          </a:p>
          <a:p>
            <a:r>
              <a:rPr lang="en-US" altLang="en-US"/>
              <a:t>FROM retail_store.employee</a:t>
            </a:r>
            <a:endParaRPr lang="en-US" altLang="en-US"/>
          </a:p>
          <a:p>
            <a:r>
              <a:rPr lang="en-US" altLang="en-US"/>
              <a:t>WHERE store_id = 1;</a:t>
            </a:r>
            <a:endParaRPr lang="en-US" altLang="en-US"/>
          </a:p>
        </p:txBody>
      </p:sp>
      <p:pic>
        <p:nvPicPr>
          <p:cNvPr id="5" name="Picture 4" descr="greater than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4330" y="1732280"/>
            <a:ext cx="2661920" cy="2241550"/>
          </a:xfrm>
          <a:prstGeom prst="rect">
            <a:avLst/>
          </a:prstGeom>
        </p:spPr>
      </p:pic>
      <p:pic>
        <p:nvPicPr>
          <p:cNvPr id="6" name="Picture 5" descr="didi digomi ba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04005"/>
            <a:ext cx="5668645" cy="1130300"/>
          </a:xfrm>
          <a:prstGeom prst="rect">
            <a:avLst/>
          </a:prstGeom>
        </p:spPr>
      </p:pic>
      <p:pic>
        <p:nvPicPr>
          <p:cNvPr id="7" name="Picture 6" descr="Empoyees working in store 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00370"/>
            <a:ext cx="4827905" cy="12014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Sorting (ORDER BY)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443335" cy="522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Products sorted by price (high to low limit 10)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/>
              <a:t>SELECT * FROM retail_store.product</a:t>
            </a:r>
            <a:endParaRPr lang="en-US" altLang="en-US"/>
          </a:p>
          <a:p>
            <a:r>
              <a:rPr lang="en-US" altLang="en-US"/>
              <a:t>ORDER BY price DESC limit 10;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Products sort by category, then price (limit 10)</a:t>
            </a:r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/>
              <a:t>SELECT product_name, category, price</a:t>
            </a:r>
            <a:endParaRPr lang="en-US" altLang="en-US"/>
          </a:p>
          <a:p>
            <a:r>
              <a:rPr lang="en-US" altLang="en-US"/>
              <a:t>FROM retail_store.product</a:t>
            </a:r>
            <a:endParaRPr lang="en-US" altLang="en-US"/>
          </a:p>
          <a:p>
            <a:r>
              <a:rPr lang="en-US" altLang="en-US"/>
              <a:t>ORDER BY category ASC, price DESC;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Top 5 most expensive products</a:t>
            </a:r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/>
              <a:t>SELECT product_name, price</a:t>
            </a:r>
            <a:endParaRPr lang="en-US" altLang="en-US"/>
          </a:p>
          <a:p>
            <a:r>
              <a:rPr lang="en-US" altLang="en-US"/>
              <a:t>FROM Product</a:t>
            </a:r>
            <a:endParaRPr lang="en-US" altLang="en-US"/>
          </a:p>
          <a:p>
            <a:r>
              <a:rPr lang="en-US" altLang="en-US"/>
              <a:t>ORDER BY price DESC</a:t>
            </a:r>
            <a:endParaRPr lang="en-US" altLang="en-US"/>
          </a:p>
          <a:p>
            <a:r>
              <a:rPr lang="en-US" altLang="en-US"/>
              <a:t>LIMIT 5;</a:t>
            </a:r>
            <a:endParaRPr lang="en-US" altLang="en-US"/>
          </a:p>
        </p:txBody>
      </p:sp>
      <p:pic>
        <p:nvPicPr>
          <p:cNvPr id="4" name="Picture 3" descr="sorting high 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0345" y="1859280"/>
            <a:ext cx="5621655" cy="2211070"/>
          </a:xfrm>
          <a:prstGeom prst="rect">
            <a:avLst/>
          </a:prstGeom>
        </p:spPr>
      </p:pic>
      <p:pic>
        <p:nvPicPr>
          <p:cNvPr id="8" name="Picture 7" descr="asc-des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960" y="4196715"/>
            <a:ext cx="5527675" cy="2487295"/>
          </a:xfrm>
          <a:prstGeom prst="rect">
            <a:avLst/>
          </a:prstGeom>
        </p:spPr>
      </p:pic>
      <p:pic>
        <p:nvPicPr>
          <p:cNvPr id="9" name="Picture 8" descr="5 most expensive produ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865" y="5128260"/>
            <a:ext cx="2538095" cy="16300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Aggregate Functions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443335" cy="522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Total number of products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/>
              <a:t>SELECT COUNT(*) As total_products</a:t>
            </a:r>
            <a:endParaRPr lang="en-US" altLang="en-US"/>
          </a:p>
          <a:p>
            <a:r>
              <a:rPr lang="en-US" altLang="en-US"/>
              <a:t>FROM retail_store.product;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Average price of “Desa” shoes</a:t>
            </a:r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/>
              <a:t>SELECT ROUND(AVG(price), 2) AS avg_desa_price</a:t>
            </a:r>
            <a:endParaRPr lang="en-US" altLang="en-US"/>
          </a:p>
          <a:p>
            <a:r>
              <a:rPr lang="en-US" altLang="en-US"/>
              <a:t>FROM retail_store.product</a:t>
            </a:r>
            <a:endParaRPr lang="en-US" altLang="en-US"/>
          </a:p>
          <a:p>
            <a:r>
              <a:rPr lang="en-US" altLang="en-US"/>
              <a:t>WHERE brand = 'Desa' AND category = 'Shoe'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Transactions with high sales</a:t>
            </a:r>
            <a:endParaRPr lang="en-US" altLang="en-US" sz="2000" b="1"/>
          </a:p>
          <a:p>
            <a:endParaRPr lang="en-US" altLang="en-US" sz="2000" b="1"/>
          </a:p>
          <a:p>
            <a:r>
              <a:rPr lang="en-US" altLang="en-US"/>
              <a:t>SELECT transaction_id, SUM(quantity * unit_price) AS total</a:t>
            </a:r>
            <a:endParaRPr lang="en-US" altLang="en-US"/>
          </a:p>
          <a:p>
            <a:r>
              <a:rPr lang="en-US" altLang="en-US"/>
              <a:t>FROM retail_store.salesdetail</a:t>
            </a:r>
            <a:endParaRPr lang="en-US" altLang="en-US"/>
          </a:p>
          <a:p>
            <a:r>
              <a:rPr lang="en-US" altLang="en-US"/>
              <a:t>GROUP BY transaction_id</a:t>
            </a:r>
            <a:endParaRPr lang="en-US" altLang="en-US"/>
          </a:p>
          <a:p>
            <a:r>
              <a:rPr lang="en-US" altLang="en-US"/>
              <a:t>HAVING SUM(quantity * unit_price) &gt; 100 limit 10</a:t>
            </a:r>
            <a:endParaRPr lang="en-US" altLang="en-US"/>
          </a:p>
        </p:txBody>
      </p:sp>
      <p:pic>
        <p:nvPicPr>
          <p:cNvPr id="5" name="Picture 4" descr="Screenshot 2026-04-24 205550"/>
          <p:cNvPicPr>
            <a:picLocks noChangeAspect="1"/>
          </p:cNvPicPr>
          <p:nvPr/>
        </p:nvPicPr>
        <p:blipFill>
          <a:blip r:embed="rId1"/>
          <a:srcRect t="15885" r="51796" b="43732"/>
          <a:stretch>
            <a:fillRect/>
          </a:stretch>
        </p:blipFill>
        <p:spPr>
          <a:xfrm>
            <a:off x="7545705" y="3133725"/>
            <a:ext cx="2027555" cy="861695"/>
          </a:xfrm>
          <a:prstGeom prst="rect">
            <a:avLst/>
          </a:prstGeom>
        </p:spPr>
      </p:pic>
      <p:pic>
        <p:nvPicPr>
          <p:cNvPr id="6" name="Picture 5" descr="high s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705" y="4130675"/>
            <a:ext cx="2027555" cy="2566035"/>
          </a:xfrm>
          <a:prstGeom prst="rect">
            <a:avLst/>
          </a:prstGeom>
        </p:spPr>
      </p:pic>
      <p:pic>
        <p:nvPicPr>
          <p:cNvPr id="7" name="Picture 6" descr="Screenshot 2026-04-24 210231"/>
          <p:cNvPicPr>
            <a:picLocks noChangeAspect="1"/>
          </p:cNvPicPr>
          <p:nvPr/>
        </p:nvPicPr>
        <p:blipFill>
          <a:blip r:embed="rId3"/>
          <a:srcRect l="1977" t="19969" r="54268" b="44321"/>
          <a:stretch>
            <a:fillRect/>
          </a:stretch>
        </p:blipFill>
        <p:spPr>
          <a:xfrm>
            <a:off x="7588885" y="2132965"/>
            <a:ext cx="1984375" cy="7829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Join Functions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443335" cy="522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All sizes available for each product (limit 10)</a:t>
            </a:r>
            <a:endParaRPr lang="en-US" altLang="en-US" sz="2000" b="1"/>
          </a:p>
          <a:p>
            <a:r>
              <a:rPr lang="en-US" altLang="en-US" sz="1600"/>
              <a:t>SELECT p.product_name, s.size_name</a:t>
            </a:r>
            <a:endParaRPr lang="en-US" altLang="en-US" sz="1600"/>
          </a:p>
          <a:p>
            <a:r>
              <a:rPr lang="en-US" altLang="en-US" sz="1600"/>
              <a:t>FROM retail_store.product p </a:t>
            </a:r>
            <a:endParaRPr lang="en-US" altLang="en-US" sz="1600"/>
          </a:p>
          <a:p>
            <a:r>
              <a:rPr lang="en-US" altLang="en-US" sz="1600"/>
              <a:t>JOIN retail_store.productsize ps ON p.product_id = ps.product_id</a:t>
            </a:r>
            <a:endParaRPr lang="en-US" altLang="en-US" sz="1600"/>
          </a:p>
          <a:p>
            <a:r>
              <a:rPr lang="en-US" altLang="en-US" sz="1600"/>
              <a:t>JOIN retail_store.size s ON ps.size_id = s.size_id limit 10;</a:t>
            </a:r>
            <a:endParaRPr lang="en-US" altLang="en-US" sz="1600"/>
          </a:p>
          <a:p>
            <a:endParaRPr lang="en-US" altLang="en-US"/>
          </a:p>
          <a:p>
            <a:r>
              <a:rPr lang="en-US" altLang="en-US" sz="2000" b="1"/>
              <a:t>Total quantity sold per product  </a:t>
            </a:r>
            <a:endParaRPr lang="en-US" altLang="en-US" sz="2000" b="1"/>
          </a:p>
          <a:p>
            <a:r>
              <a:rPr lang="en-US" altLang="en-US" sz="1600"/>
              <a:t>SELECT p.product_name,SUM(sd.quantity) AS total_sold</a:t>
            </a:r>
            <a:endParaRPr lang="en-US" altLang="en-US" sz="1600"/>
          </a:p>
          <a:p>
            <a:r>
              <a:rPr lang="en-US" altLang="en-US" sz="1600"/>
              <a:t>FROM retail_store.product p</a:t>
            </a:r>
            <a:endParaRPr lang="en-US" altLang="en-US" sz="1600"/>
          </a:p>
          <a:p>
            <a:r>
              <a:rPr lang="en-US" altLang="en-US" sz="1600"/>
              <a:t>JOIN retail_store.productsize ps ON p.product_id = ps.product_id</a:t>
            </a:r>
            <a:endParaRPr lang="en-US" altLang="en-US" sz="1600"/>
          </a:p>
          <a:p>
            <a:r>
              <a:rPr lang="en-US" altLang="en-US" sz="1600"/>
              <a:t>JOIN retail_store.salesdetail sd ON ps.product_size_id = sd.product_size_id</a:t>
            </a:r>
            <a:endParaRPr lang="en-US" altLang="en-US" sz="1600"/>
          </a:p>
          <a:p>
            <a:r>
              <a:rPr lang="en-US" altLang="en-US" sz="1600"/>
              <a:t>GROUP BY p.product_name;</a:t>
            </a:r>
            <a:endParaRPr lang="en-US" altLang="en-US" sz="1600"/>
          </a:p>
          <a:p>
            <a:endParaRPr lang="en-US" altLang="en-US" sz="2000" b="1"/>
          </a:p>
          <a:p>
            <a:r>
              <a:rPr lang="en-US" altLang="en-US" sz="2000" b="1"/>
              <a:t>Customers who made purchases on April 10, 2026 </a:t>
            </a:r>
            <a:endParaRPr lang="en-US" altLang="en-US" sz="2000" b="1"/>
          </a:p>
          <a:p>
            <a:r>
              <a:rPr lang="en-US" altLang="en-US" sz="1600"/>
              <a:t>SELECT DISTINCT c.customer_name</a:t>
            </a:r>
            <a:endParaRPr lang="en-US" altLang="en-US" sz="1600"/>
          </a:p>
          <a:p>
            <a:r>
              <a:rPr lang="en-US" altLang="en-US" sz="1600"/>
              <a:t>FROM retail_store.customer c</a:t>
            </a:r>
            <a:endParaRPr lang="en-US" altLang="en-US" sz="1600"/>
          </a:p>
          <a:p>
            <a:r>
              <a:rPr lang="en-US" altLang="en-US" sz="1600"/>
              <a:t>JOIN retail_store.salestransaction st</a:t>
            </a:r>
            <a:endParaRPr lang="en-US" altLang="en-US" sz="1600"/>
          </a:p>
          <a:p>
            <a:r>
              <a:rPr lang="en-US" altLang="en-US" sz="1600"/>
              <a:t>    ON c.customer_id = st.customer_id</a:t>
            </a:r>
            <a:endParaRPr lang="en-US" altLang="en-US" sz="1600"/>
          </a:p>
          <a:p>
            <a:r>
              <a:rPr lang="en-US" altLang="en-US" sz="1600"/>
              <a:t>WHERE st.transaction_date = '2026-04-10';</a:t>
            </a:r>
            <a:endParaRPr lang="en-US" altLang="en-US" sz="1600"/>
          </a:p>
        </p:txBody>
      </p:sp>
      <p:pic>
        <p:nvPicPr>
          <p:cNvPr id="4" name="Picture 3" descr="all sizes"/>
          <p:cNvPicPr>
            <a:picLocks noChangeAspect="1"/>
          </p:cNvPicPr>
          <p:nvPr/>
        </p:nvPicPr>
        <p:blipFill>
          <a:blip r:embed="rId1"/>
          <a:srcRect l="-405" t="26" r="405"/>
          <a:stretch>
            <a:fillRect/>
          </a:stretch>
        </p:blipFill>
        <p:spPr>
          <a:xfrm>
            <a:off x="7981950" y="1637030"/>
            <a:ext cx="2979420" cy="2437765"/>
          </a:xfrm>
          <a:prstGeom prst="rect">
            <a:avLst/>
          </a:prstGeom>
        </p:spPr>
      </p:pic>
      <p:pic>
        <p:nvPicPr>
          <p:cNvPr id="8" name="Picture 7" descr="total quant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0" y="4204970"/>
            <a:ext cx="2979420" cy="2439035"/>
          </a:xfrm>
          <a:prstGeom prst="rect">
            <a:avLst/>
          </a:prstGeom>
        </p:spPr>
      </p:pic>
      <p:pic>
        <p:nvPicPr>
          <p:cNvPr id="9" name="Picture 8" descr="april purchases"/>
          <p:cNvPicPr>
            <a:picLocks noChangeAspect="1"/>
          </p:cNvPicPr>
          <p:nvPr/>
        </p:nvPicPr>
        <p:blipFill>
          <a:blip r:embed="rId3"/>
          <a:srcRect t="16080" r="48683" b="30701"/>
          <a:stretch>
            <a:fillRect/>
          </a:stretch>
        </p:blipFill>
        <p:spPr>
          <a:xfrm>
            <a:off x="5166995" y="5462905"/>
            <a:ext cx="2326640" cy="1181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Interesting Select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443335" cy="522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10 products with their size and remaining stock after sales</a:t>
            </a:r>
            <a:endParaRPr lang="en-US" altLang="en-US" sz="2000" b="1"/>
          </a:p>
          <a:p>
            <a:endParaRPr lang="en-US" altLang="en-US" sz="1600"/>
          </a:p>
          <a:p>
            <a:r>
              <a:rPr lang="en-US" altLang="en-US" sz="1400"/>
              <a:t>SELECT </a:t>
            </a:r>
            <a:endParaRPr lang="en-US" altLang="en-US" sz="1400"/>
          </a:p>
          <a:p>
            <a:r>
              <a:rPr lang="en-US" altLang="en-US" sz="1400"/>
              <a:t>    p.product_name,</a:t>
            </a:r>
            <a:endParaRPr lang="en-US" altLang="en-US" sz="1400"/>
          </a:p>
          <a:p>
            <a:r>
              <a:rPr lang="en-US" altLang="en-US" sz="1400"/>
              <a:t>    s.size_name,</a:t>
            </a:r>
            <a:endParaRPr lang="en-US" altLang="en-US" sz="1400"/>
          </a:p>
          <a:p>
            <a:r>
              <a:rPr lang="en-US" altLang="en-US" sz="1400"/>
              <a:t>    ps.stock_quantity - COALESCE(SUM(sd.quantity), 0) AS remaining_stock</a:t>
            </a:r>
            <a:endParaRPr lang="en-US" altLang="en-US" sz="1400"/>
          </a:p>
          <a:p>
            <a:r>
              <a:rPr lang="en-US" altLang="en-US" sz="1400"/>
              <a:t>FROM retail_store.product p</a:t>
            </a:r>
            <a:endParaRPr lang="en-US" altLang="en-US" sz="1400"/>
          </a:p>
          <a:p>
            <a:r>
              <a:rPr lang="en-US" altLang="en-US" sz="1400"/>
              <a:t>JOIN retail_store.productsize ps ON p.product_id = ps.product_id</a:t>
            </a:r>
            <a:endParaRPr lang="en-US" altLang="en-US" sz="1400"/>
          </a:p>
          <a:p>
            <a:r>
              <a:rPr lang="en-US" altLang="en-US" sz="1400"/>
              <a:t>JOIN retail_store.size s ON ps.size_id = s.size_id</a:t>
            </a:r>
            <a:endParaRPr lang="en-US" altLang="en-US" sz="1400"/>
          </a:p>
          <a:p>
            <a:r>
              <a:rPr lang="en-US" altLang="en-US" sz="1400"/>
              <a:t>LEFT JOIN retail_store.salesdetail sd ON ps.product_size_id = sd.product_size_id</a:t>
            </a:r>
            <a:endParaRPr lang="en-US" altLang="en-US" sz="1400"/>
          </a:p>
          <a:p>
            <a:r>
              <a:rPr lang="en-US" altLang="en-US" sz="1400"/>
              <a:t>GROUP BY p.product_name, s.size_name, ps.stock_quantity limit 10;</a:t>
            </a:r>
            <a:endParaRPr lang="en-US" altLang="en-US" sz="1400"/>
          </a:p>
          <a:p>
            <a:endParaRPr lang="en-US" altLang="en-US" sz="1600"/>
          </a:p>
          <a:p>
            <a:r>
              <a:rPr lang="en-US" altLang="en-US" b="1"/>
              <a:t>Total number of jackets sold in March </a:t>
            </a:r>
            <a:endParaRPr lang="en-US" altLang="en-US" b="1"/>
          </a:p>
          <a:p>
            <a:endParaRPr lang="en-US" altLang="en-US" sz="1400" b="1"/>
          </a:p>
          <a:p>
            <a:r>
              <a:rPr lang="en-US" altLang="en-US" sz="1400"/>
              <a:t>SELECT SUM(sd.quantity) AS total_jacket</a:t>
            </a:r>
            <a:endParaRPr lang="en-US" altLang="en-US" sz="1400"/>
          </a:p>
          <a:p>
            <a:r>
              <a:rPr lang="en-US" altLang="en-US" sz="1400"/>
              <a:t>FROM retail_store.salesdetail sd</a:t>
            </a:r>
            <a:endParaRPr lang="en-US" altLang="en-US" sz="1400"/>
          </a:p>
          <a:p>
            <a:r>
              <a:rPr lang="en-US" altLang="en-US" sz="1400"/>
              <a:t>JOIN retail_store.productsize ps ON sd.product_size_id = ps.product_size_id</a:t>
            </a:r>
            <a:endParaRPr lang="en-US" altLang="en-US" sz="1400"/>
          </a:p>
          <a:p>
            <a:r>
              <a:rPr lang="en-US" altLang="en-US" sz="1400"/>
              <a:t>JOIN retail_store.product p ON ps.product_id = p.product_id</a:t>
            </a:r>
            <a:endParaRPr lang="en-US" altLang="en-US" sz="1400"/>
          </a:p>
          <a:p>
            <a:r>
              <a:rPr lang="en-US" altLang="en-US" sz="1400"/>
              <a:t>JOIN retail_store.salestransaction st ON sd.transaction_id = st.transaction_id</a:t>
            </a:r>
            <a:endParaRPr lang="en-US" altLang="en-US" sz="1400"/>
          </a:p>
          <a:p>
            <a:r>
              <a:rPr lang="en-US" altLang="en-US" sz="1400"/>
              <a:t>WHERE p.product_name LIKE '%Jacket%'</a:t>
            </a:r>
            <a:endParaRPr lang="en-US" altLang="en-US" sz="1400"/>
          </a:p>
          <a:p>
            <a:r>
              <a:rPr lang="en-US" altLang="en-US" sz="1400"/>
              <a:t>AND EXTRACT(MONTH FROM st.transaction_date) = 3;</a:t>
            </a:r>
            <a:endParaRPr lang="en-US" altLang="en-US" sz="1400"/>
          </a:p>
        </p:txBody>
      </p:sp>
      <p:pic>
        <p:nvPicPr>
          <p:cNvPr id="5" name="Picture 4" descr="10 remaining produc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75" y="1732280"/>
            <a:ext cx="3705860" cy="2578735"/>
          </a:xfrm>
          <a:prstGeom prst="rect">
            <a:avLst/>
          </a:prstGeom>
        </p:spPr>
      </p:pic>
      <p:pic>
        <p:nvPicPr>
          <p:cNvPr id="6" name="Picture 5" descr="total jacket"/>
          <p:cNvPicPr>
            <a:picLocks noChangeAspect="1"/>
          </p:cNvPicPr>
          <p:nvPr/>
        </p:nvPicPr>
        <p:blipFill>
          <a:blip r:embed="rId2"/>
          <a:srcRect t="15020" r="73654" b="58914"/>
          <a:stretch>
            <a:fillRect/>
          </a:stretch>
        </p:blipFill>
        <p:spPr>
          <a:xfrm>
            <a:off x="8156575" y="4883150"/>
            <a:ext cx="2437765" cy="11849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Interesting Select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443335" cy="522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/>
              <a:t>The Employee who sold the most items or made the most sales</a:t>
            </a:r>
            <a:endParaRPr lang="en-US" altLang="en-US" sz="1600" b="1"/>
          </a:p>
          <a:p>
            <a:endParaRPr lang="en-US" altLang="en-US" sz="1600" b="1"/>
          </a:p>
          <a:p>
            <a:r>
              <a:rPr lang="en-US" altLang="en-US" sz="1200"/>
              <a:t>SELECT</a:t>
            </a:r>
            <a:endParaRPr lang="en-US" altLang="en-US" sz="1200"/>
          </a:p>
          <a:p>
            <a:r>
              <a:rPr lang="en-US" altLang="en-US" sz="1200"/>
              <a:t>    e.employee_name,</a:t>
            </a:r>
            <a:endParaRPr lang="en-US" altLang="en-US" sz="1200"/>
          </a:p>
          <a:p>
            <a:r>
              <a:rPr lang="en-US" altLang="en-US" sz="1200"/>
              <a:t>    SUM(sd.quantity) AS total_items_sold</a:t>
            </a:r>
            <a:endParaRPr lang="en-US" altLang="en-US" sz="1200"/>
          </a:p>
          <a:p>
            <a:r>
              <a:rPr lang="en-US" altLang="en-US" sz="1200"/>
              <a:t>FROM retail_store.employee e</a:t>
            </a:r>
            <a:endParaRPr lang="en-US" altLang="en-US" sz="1200"/>
          </a:p>
          <a:p>
            <a:r>
              <a:rPr lang="en-US" altLang="en-US" sz="1200"/>
              <a:t>JOIN retail_store.salestransaction st</a:t>
            </a:r>
            <a:endParaRPr lang="en-US" altLang="en-US" sz="1200"/>
          </a:p>
          <a:p>
            <a:r>
              <a:rPr lang="en-US" altLang="en-US" sz="1200"/>
              <a:t>    ON e.employee_id = st.employee_id</a:t>
            </a:r>
            <a:endParaRPr lang="en-US" altLang="en-US" sz="1200"/>
          </a:p>
          <a:p>
            <a:r>
              <a:rPr lang="en-US" altLang="en-US" sz="1200"/>
              <a:t>JOIN retail_store.salesdetail sd</a:t>
            </a:r>
            <a:endParaRPr lang="en-US" altLang="en-US" sz="1200"/>
          </a:p>
          <a:p>
            <a:r>
              <a:rPr lang="en-US" altLang="en-US" sz="1200"/>
              <a:t>    ON st.transaction_id = sd.transaction_id</a:t>
            </a:r>
            <a:endParaRPr lang="en-US" altLang="en-US" sz="1200"/>
          </a:p>
          <a:p>
            <a:r>
              <a:rPr lang="en-US" altLang="en-US" sz="1200"/>
              <a:t>GROUP BY e.employee_name</a:t>
            </a:r>
            <a:endParaRPr lang="en-US" altLang="en-US" sz="1200"/>
          </a:p>
          <a:p>
            <a:r>
              <a:rPr lang="en-US" altLang="en-US" sz="1200"/>
              <a:t>ORDER BY total_items_sold DESC</a:t>
            </a:r>
            <a:endParaRPr lang="en-US" altLang="en-US" sz="1200"/>
          </a:p>
          <a:p>
            <a:r>
              <a:rPr lang="en-US" altLang="en-US" sz="1200"/>
              <a:t>LIMIT 1;</a:t>
            </a:r>
            <a:endParaRPr lang="en-US" altLang="en-US" sz="1200"/>
          </a:p>
          <a:p>
            <a:endParaRPr lang="en-US" altLang="en-US" sz="1600"/>
          </a:p>
          <a:p>
            <a:r>
              <a:rPr lang="en-US" altLang="en-US" sz="1600" b="1"/>
              <a:t>The Most popular product  </a:t>
            </a:r>
            <a:endParaRPr lang="en-US" altLang="en-US" sz="1600" b="1"/>
          </a:p>
          <a:p>
            <a:r>
              <a:rPr lang="en-US" altLang="en-US" sz="1200"/>
              <a:t>SELECT</a:t>
            </a:r>
            <a:endParaRPr lang="en-US" altLang="en-US" sz="1200"/>
          </a:p>
          <a:p>
            <a:r>
              <a:rPr lang="en-US" altLang="en-US" sz="1200"/>
              <a:t>    p.product_name,</a:t>
            </a:r>
            <a:endParaRPr lang="en-US" altLang="en-US" sz="1200"/>
          </a:p>
          <a:p>
            <a:r>
              <a:rPr lang="en-US" altLang="en-US" sz="1200"/>
              <a:t>    SUM(sd.quantity) AS total_sold</a:t>
            </a:r>
            <a:endParaRPr lang="en-US" altLang="en-US" sz="1200"/>
          </a:p>
          <a:p>
            <a:r>
              <a:rPr lang="en-US" altLang="en-US" sz="1200"/>
              <a:t>FROM retail_store.product p</a:t>
            </a:r>
            <a:endParaRPr lang="en-US" altLang="en-US" sz="1200"/>
          </a:p>
          <a:p>
            <a:r>
              <a:rPr lang="en-US" altLang="en-US" sz="1200"/>
              <a:t>JOIN retail_store.productsize ps</a:t>
            </a:r>
            <a:endParaRPr lang="en-US" altLang="en-US" sz="1200"/>
          </a:p>
          <a:p>
            <a:r>
              <a:rPr lang="en-US" altLang="en-US" sz="1200"/>
              <a:t>    ON p.product_id = ps.product_id</a:t>
            </a:r>
            <a:endParaRPr lang="en-US" altLang="en-US" sz="1200"/>
          </a:p>
          <a:p>
            <a:r>
              <a:rPr lang="en-US" altLang="en-US" sz="1200"/>
              <a:t>JOIN retail_store.salesdetail sd</a:t>
            </a:r>
            <a:endParaRPr lang="en-US" altLang="en-US" sz="1200"/>
          </a:p>
          <a:p>
            <a:r>
              <a:rPr lang="en-US" altLang="en-US" sz="1200"/>
              <a:t>    ON ps.product_size_id = sd.product_size_id</a:t>
            </a:r>
            <a:endParaRPr lang="en-US" altLang="en-US" sz="1200"/>
          </a:p>
          <a:p>
            <a:r>
              <a:rPr lang="en-US" altLang="en-US" sz="1200"/>
              <a:t>GROUP BY p.product_name</a:t>
            </a:r>
            <a:endParaRPr lang="en-US" altLang="en-US" sz="1200"/>
          </a:p>
          <a:p>
            <a:r>
              <a:rPr lang="en-US" altLang="en-US" sz="1200"/>
              <a:t>ORDER BY total_sold DESC</a:t>
            </a:r>
            <a:endParaRPr lang="en-US" altLang="en-US" sz="1200"/>
          </a:p>
          <a:p>
            <a:r>
              <a:rPr lang="en-US" altLang="en-US" sz="1200"/>
              <a:t>LIMIT 1;</a:t>
            </a:r>
            <a:endParaRPr lang="en-US" altLang="en-US" sz="1200"/>
          </a:p>
        </p:txBody>
      </p:sp>
      <p:pic>
        <p:nvPicPr>
          <p:cNvPr id="4" name="Picture 3" descr="most sales"/>
          <p:cNvPicPr>
            <a:picLocks noChangeAspect="1"/>
          </p:cNvPicPr>
          <p:nvPr/>
        </p:nvPicPr>
        <p:blipFill>
          <a:blip r:embed="rId1"/>
          <a:srcRect r="21198" b="37982"/>
          <a:stretch>
            <a:fillRect/>
          </a:stretch>
        </p:blipFill>
        <p:spPr>
          <a:xfrm>
            <a:off x="5664200" y="2166620"/>
            <a:ext cx="3925570" cy="1346835"/>
          </a:xfrm>
          <a:prstGeom prst="rect">
            <a:avLst/>
          </a:prstGeom>
        </p:spPr>
      </p:pic>
      <p:pic>
        <p:nvPicPr>
          <p:cNvPr id="7" name="Picture 6" descr="most popular"/>
          <p:cNvPicPr>
            <a:picLocks noChangeAspect="1"/>
          </p:cNvPicPr>
          <p:nvPr/>
        </p:nvPicPr>
        <p:blipFill>
          <a:blip r:embed="rId2"/>
          <a:srcRect r="30973" b="49970"/>
          <a:stretch>
            <a:fillRect/>
          </a:stretch>
        </p:blipFill>
        <p:spPr>
          <a:xfrm>
            <a:off x="5664200" y="4438650"/>
            <a:ext cx="3822065" cy="11791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74700" y="474345"/>
            <a:ext cx="7732395" cy="1257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 SQL Queries </a:t>
            </a:r>
            <a:endParaRPr lang="en-US" altLang="en-US" sz="32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3200">
                <a:sym typeface="+mn-ea"/>
              </a:rPr>
              <a:t>                     Full Outer Join</a:t>
            </a:r>
            <a:endParaRPr lang="en-US" altLang="en-US" sz="32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5155" y="1637030"/>
            <a:ext cx="11443335" cy="522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/>
              <a:t>All products and all sales records, including unmatched data from both sides</a:t>
            </a:r>
            <a:endParaRPr lang="en-US" altLang="en-US" sz="1600" b="1"/>
          </a:p>
          <a:p>
            <a:endParaRPr lang="en-US" altLang="en-US" sz="1200"/>
          </a:p>
          <a:p>
            <a:r>
              <a:rPr lang="en-US" altLang="en-US" sz="1200"/>
              <a:t>SELECT</a:t>
            </a:r>
            <a:endParaRPr lang="en-US" altLang="en-US" sz="1200"/>
          </a:p>
          <a:p>
            <a:r>
              <a:rPr lang="en-US" altLang="en-US" sz="1200"/>
              <a:t>    p.product_name,</a:t>
            </a:r>
            <a:endParaRPr lang="en-US" altLang="en-US" sz="1200"/>
          </a:p>
          <a:p>
            <a:r>
              <a:rPr lang="en-US" altLang="en-US" sz="1200"/>
              <a:t>    p.category,</a:t>
            </a:r>
            <a:endParaRPr lang="en-US" altLang="en-US" sz="1200"/>
          </a:p>
          <a:p>
            <a:r>
              <a:rPr lang="en-US" altLang="en-US" sz="1200"/>
              <a:t>    p.brand,</a:t>
            </a:r>
            <a:endParaRPr lang="en-US" altLang="en-US" sz="1200"/>
          </a:p>
          <a:p>
            <a:r>
              <a:rPr lang="en-US" altLang="en-US" sz="1200"/>
              <a:t>    p.color,</a:t>
            </a:r>
            <a:endParaRPr lang="en-US" altLang="en-US" sz="1200"/>
          </a:p>
          <a:p>
            <a:r>
              <a:rPr lang="en-US" altLang="en-US" sz="1200"/>
              <a:t>    sd.transaction_id,</a:t>
            </a:r>
            <a:endParaRPr lang="en-US" altLang="en-US" sz="1200"/>
          </a:p>
          <a:p>
            <a:r>
              <a:rPr lang="en-US" altLang="en-US" sz="1200"/>
              <a:t>    sd.quantity</a:t>
            </a:r>
            <a:endParaRPr lang="en-US" altLang="en-US" sz="1200"/>
          </a:p>
          <a:p>
            <a:r>
              <a:rPr lang="en-US" altLang="en-US" sz="1200"/>
              <a:t>FROM retail_store.product p</a:t>
            </a:r>
            <a:endParaRPr lang="en-US" altLang="en-US" sz="1200"/>
          </a:p>
          <a:p>
            <a:r>
              <a:rPr lang="en-US" altLang="en-US" sz="1200"/>
              <a:t>FULL OUTER JOIN retail_store.productsize ps</a:t>
            </a:r>
            <a:endParaRPr lang="en-US" altLang="en-US" sz="1200"/>
          </a:p>
          <a:p>
            <a:r>
              <a:rPr lang="en-US" altLang="en-US" sz="1200"/>
              <a:t>    ON p.product_id = ps.product_id</a:t>
            </a:r>
            <a:endParaRPr lang="en-US" altLang="en-US" sz="1200"/>
          </a:p>
          <a:p>
            <a:r>
              <a:rPr lang="en-US" altLang="en-US" sz="1200"/>
              <a:t>FULL OUTER JOIN retail_store.salesdetail sd</a:t>
            </a:r>
            <a:endParaRPr lang="en-US" altLang="en-US" sz="1200"/>
          </a:p>
          <a:p>
            <a:r>
              <a:rPr lang="en-US" altLang="en-US" sz="1200"/>
              <a:t>    ON ps.product_size_id = sd.product_size_id;</a:t>
            </a:r>
            <a:endParaRPr lang="en-US" altLang="en-US" sz="1200"/>
          </a:p>
        </p:txBody>
      </p:sp>
      <p:pic>
        <p:nvPicPr>
          <p:cNvPr id="5" name="Picture 4" descr="Screenshot 2026-04-27 231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390" y="3746500"/>
            <a:ext cx="7928610" cy="3111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heme/theme1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7910</Words>
  <Application>WPS Presentation</Application>
  <PresentationFormat>Widescreen</PresentationFormat>
  <Paragraphs>329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Lato</vt:lpstr>
      <vt:lpstr>苹方-简</vt:lpstr>
      <vt:lpstr>Manrope ExtraBold</vt:lpstr>
      <vt:lpstr>宋体-简</vt:lpstr>
      <vt:lpstr>Apple Color Emoji</vt:lpstr>
      <vt:lpstr>Arial</vt:lpstr>
      <vt:lpstr>1_Office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mariami</dc:creator>
  <cp:lastModifiedBy>Mariam Khomizuri</cp:lastModifiedBy>
  <cp:revision>6</cp:revision>
  <dcterms:created xsi:type="dcterms:W3CDTF">2026-04-28T03:19:42Z</dcterms:created>
  <dcterms:modified xsi:type="dcterms:W3CDTF">2026-04-28T03:19:42Z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0D34532B61AEDA978926EC694051F2E1_43</vt:lpwstr>
  </property>
  <property fmtid="{D5CDD505-2E9C-101B-9397-08002B2CF9AE}" pid="3" name="KSOProductBuildVer">
    <vt:lpwstr>1033-12.1.25867.25867</vt:lpwstr>
  </property>
</Properties>
</file>